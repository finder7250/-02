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2100" y="1596390"/>
            <a:ext cx="9105900" cy="1516380"/>
          </a:xfrm>
        </p:spPr>
        <p:txBody>
          <a:bodyPr>
            <a:normAutofit/>
          </a:bodyPr>
          <a:lstStyle/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Отчет по учебной практике ПМ.02 Осуществление интеграции программных модулей</a:t>
            </a:r>
            <a:endParaRPr lang="en-US" sz="30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351395" y="3429000"/>
            <a:ext cx="4459605" cy="2769235"/>
          </a:xfrm>
        </p:spPr>
        <p:txBody>
          <a:bodyPr>
            <a:normAutofit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Студент Мищенко Викторм Сергеевич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Специальность 09.02.07 Информационные системы и программирование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Руководитель практики от колледжа Калинин Арсений Олегович</a:t>
            </a:r>
            <a:endParaRPr 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2956560" y="25590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a:t>
            </a:r>
            <a:endParaRPr lang="ru-RU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5239964" y="6079458"/>
            <a:ext cx="1712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 algn="ctr"/>
            <a:r>
              <a:rPr lang="en-US" altLang="en-US"/>
              <a:t>Введение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Тема: Разработка информационной системы «АгроКонтроль» для управления производством средств защиты растений</a:t>
            </a:r>
            <a:endParaRPr lang="en-US" altLang="en-US"/>
          </a:p>
          <a:p>
            <a:r>
              <a:rPr lang="en-US" altLang="en-US"/>
              <a:t>Цель: Автоматизация процессов технологического отдела, лаборатории и аппаратчиков на предприятии по выпуску агрохимикатов.</a:t>
            </a:r>
            <a:endParaRPr lang="en-US" altLang="en-US"/>
          </a:p>
          <a:p>
            <a:r>
              <a:rPr lang="en-US" altLang="en-US"/>
              <a:t>Результат: Создана полнофункциональная система «АгроКонтроль», включающая:</a:t>
            </a:r>
            <a:endParaRPr lang="en-US" altLang="en-US"/>
          </a:p>
          <a:p>
            <a:r>
              <a:rPr lang="en-US" altLang="en-US"/>
              <a:t>Базу данных (</a:t>
            </a:r>
            <a:r>
              <a:rPr lang="en-US" altLang="ru-RU"/>
              <a:t>MS SQL Server)</a:t>
            </a:r>
            <a:endParaRPr lang="en-US" altLang="ru-RU"/>
          </a:p>
          <a:p>
            <a:r>
              <a:rPr lang="en-US" altLang="ru-RU"/>
              <a:t>REST API (ASP.NET Web API 2)</a:t>
            </a:r>
            <a:endParaRPr lang="en-US" altLang="ru-RU"/>
          </a:p>
          <a:p>
            <a:r>
              <a:rPr lang="en-US" altLang="en-US"/>
              <a:t>Три </a:t>
            </a:r>
            <a:r>
              <a:rPr lang="en-US" altLang="ru-RU"/>
              <a:t>WPF-</a:t>
            </a:r>
            <a:r>
              <a:rPr lang="en-US" altLang="en-US"/>
              <a:t>приложения (Технолог, Лаборатория, Аппаратчик)</a:t>
            </a:r>
            <a:endParaRPr lang="en-US" altLang="en-US"/>
          </a:p>
          <a:p>
            <a:r>
              <a:rPr lang="en-US" altLang="en-US"/>
              <a:t>Комплект документации и тестов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Сессия 1: Проектирование и база данных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Анализ предметной области:</a:t>
            </a:r>
            <a:endParaRPr lang="en-US" altLang="en-US"/>
          </a:p>
          <a:p>
            <a:r>
              <a:rPr lang="en-US" altLang="en-US"/>
              <a:t>Рецептуры, техкарты, заказы, партии, лабораторный контроль, отклонения, аудит.</a:t>
            </a:r>
            <a:endParaRPr lang="en-US" altLang="en-US"/>
          </a:p>
          <a:p>
            <a:r>
              <a:rPr lang="en-US" altLang="ru-RU"/>
              <a:t>Use Case (6 </a:t>
            </a:r>
            <a:r>
              <a:rPr lang="en-US" altLang="en-US"/>
              <a:t>основных):</a:t>
            </a:r>
            <a:endParaRPr lang="en-US" altLang="en-US"/>
          </a:p>
          <a:p>
            <a:r>
              <a:rPr lang="en-US" altLang="en-US"/>
              <a:t>Управление рецептурами, техкартами, заказами, партиями, выполнение шага, лабораторный контроль.</a:t>
            </a:r>
            <a:endParaRPr lang="en-US" altLang="en-US"/>
          </a:p>
          <a:p>
            <a:r>
              <a:rPr lang="en-US" altLang="en-US"/>
              <a:t>Проектирование:</a:t>
            </a:r>
            <a:endParaRPr lang="en-US" altLang="en-US"/>
          </a:p>
          <a:p>
            <a:r>
              <a:rPr lang="en-US" altLang="ru-RU"/>
              <a:t>ERD (20+ </a:t>
            </a:r>
            <a:r>
              <a:rPr lang="en-US" altLang="en-US"/>
              <a:t>таблиц)</a:t>
            </a:r>
            <a:endParaRPr lang="en-US" altLang="en-US"/>
          </a:p>
          <a:p>
            <a:r>
              <a:rPr lang="en-US" altLang="ru-RU"/>
              <a:t>Wireframe </a:t>
            </a:r>
            <a:r>
              <a:rPr lang="en-US" altLang="en-US"/>
              <a:t>в </a:t>
            </a:r>
            <a:r>
              <a:rPr lang="en-US" altLang="ru-RU"/>
              <a:t>Figma (6 </a:t>
            </a:r>
            <a:r>
              <a:rPr lang="en-US" altLang="en-US"/>
              <a:t>экранов)</a:t>
            </a:r>
            <a:endParaRPr lang="en-US" altLang="en-US"/>
          </a:p>
          <a:p>
            <a:r>
              <a:rPr lang="en-US" altLang="en-US"/>
              <a:t>База данных:</a:t>
            </a:r>
            <a:endParaRPr lang="en-US" altLang="en-US"/>
          </a:p>
          <a:p>
            <a:r>
              <a:rPr lang="en-US" altLang="en-US"/>
              <a:t>Таблицы: </a:t>
            </a:r>
            <a:r>
              <a:rPr lang="en-US" altLang="ru-RU"/>
              <a:t>users, products, recipes, process_steps, batches, batch_steps, quality_controls, deviation_events, audit_log, equipment_telemetry </a:t>
            </a:r>
            <a:r>
              <a:rPr lang="en-US" altLang="en-US"/>
              <a:t>и др.</a:t>
            </a:r>
            <a:endParaRPr lang="en-US" altLang="en-US"/>
          </a:p>
          <a:p>
            <a:r>
              <a:rPr lang="en-US" altLang="en-US"/>
              <a:t>Хранимые процедуры, триггеры, функции (</a:t>
            </a:r>
            <a:r>
              <a:rPr lang="en-US" altLang="ru-RU"/>
              <a:t>get_current_user_id, sp_create_batch, sp_record_batch_step, sp_complete_batch).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Сессия 2: </a:t>
            </a:r>
            <a:r>
              <a:rPr lang="en-US" altLang="ru-RU"/>
              <a:t>REST API</a:t>
            </a:r>
            <a:br>
              <a:rPr lang="en-US" altLang="ru-RU"/>
            </a:b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p>
            <a:r>
              <a:rPr lang="en-US" altLang="en-US"/>
              <a:t>Платформа: </a:t>
            </a:r>
            <a:r>
              <a:rPr lang="en-US" altLang="ru-RU"/>
              <a:t>ASP.NET Web API 2 (.NET Framework 4.8)</a:t>
            </a:r>
            <a:endParaRPr lang="en-US" altLang="ru-RU"/>
          </a:p>
          <a:p>
            <a:r>
              <a:rPr lang="en-US" altLang="en-US"/>
              <a:t>Контроллеры (10 шт.):</a:t>
            </a:r>
            <a:endParaRPr lang="en-US" altLang="en-US"/>
          </a:p>
          <a:p>
            <a:r>
              <a:rPr lang="en-US" altLang="ru-RU"/>
              <a:t>AuthController (</a:t>
            </a:r>
            <a:r>
              <a:rPr lang="en-US" altLang="en-US"/>
              <a:t>логин, регистрация)</a:t>
            </a:r>
            <a:endParaRPr lang="en-US" altLang="en-US"/>
          </a:p>
          <a:p>
            <a:r>
              <a:rPr lang="en-US" altLang="ru-RU"/>
              <a:t>ProductsController, RecipesController, ProcessStepsController</a:t>
            </a:r>
            <a:endParaRPr lang="en-US" altLang="ru-RU"/>
          </a:p>
          <a:p>
            <a:r>
              <a:rPr lang="en-US" altLang="ru-RU"/>
              <a:t>OrdersController, BatchesController</a:t>
            </a:r>
            <a:endParaRPr lang="en-US" altLang="ru-RU"/>
          </a:p>
          <a:p>
            <a:r>
              <a:rPr lang="en-US" altLang="ru-RU"/>
              <a:t>QualityController (</a:t>
            </a:r>
            <a:r>
              <a:rPr lang="en-US" altLang="en-US"/>
              <a:t>лаборатория)</a:t>
            </a:r>
            <a:endParaRPr lang="en-US" altLang="en-US"/>
          </a:p>
          <a:p>
            <a:r>
              <a:rPr lang="en-US" altLang="ru-RU"/>
              <a:t>OperatorController (</a:t>
            </a:r>
            <a:r>
              <a:rPr lang="en-US" altLang="en-US"/>
              <a:t>активные партии, программа, шаги, телеметрия)</a:t>
            </a:r>
            <a:endParaRPr lang="en-US" altLang="en-US"/>
          </a:p>
          <a:p>
            <a:r>
              <a:rPr lang="en-US" altLang="ru-RU"/>
              <a:t>DeviationEventsController, ReportsController</a:t>
            </a:r>
            <a:endParaRPr lang="en-US" altLang="ru-RU"/>
          </a:p>
          <a:p>
            <a:r>
              <a:rPr lang="en-US" altLang="en-US"/>
              <a:t>Особенности:</a:t>
            </a:r>
            <a:endParaRPr lang="en-US" altLang="en-US"/>
          </a:p>
          <a:p>
            <a:r>
              <a:rPr lang="en-US" altLang="en-US"/>
              <a:t>Аутентификация без </a:t>
            </a:r>
            <a:r>
              <a:rPr lang="en-US" altLang="ru-RU"/>
              <a:t>JWT (</a:t>
            </a:r>
            <a:r>
              <a:rPr lang="en-US" altLang="en-US"/>
              <a:t>проверка логина/пароля + </a:t>
            </a:r>
            <a:r>
              <a:rPr lang="en-US" altLang="ru-RU"/>
              <a:t>CAPTCHA </a:t>
            </a:r>
            <a:r>
              <a:rPr lang="en-US" altLang="en-US"/>
              <a:t>на клиенте)</a:t>
            </a:r>
            <a:endParaRPr lang="en-US" altLang="en-US"/>
          </a:p>
          <a:p>
            <a:r>
              <a:rPr lang="en-US" altLang="en-US"/>
              <a:t>Параметризованные запросы, защита от </a:t>
            </a:r>
            <a:r>
              <a:rPr lang="en-US" altLang="ru-RU"/>
              <a:t>SQL-</a:t>
            </a:r>
            <a:r>
              <a:rPr lang="en-US" altLang="en-US"/>
              <a:t>инъекций</a:t>
            </a:r>
            <a:endParaRPr lang="en-US" altLang="en-US"/>
          </a:p>
          <a:p>
            <a:r>
              <a:rPr lang="en-US" altLang="en-US"/>
              <a:t>Аудирование через </a:t>
            </a:r>
            <a:r>
              <a:rPr lang="en-US" altLang="ru-RU"/>
              <a:t>audit_log</a:t>
            </a:r>
            <a:endParaRPr lang="en-US" altLang="ru-RU"/>
          </a:p>
          <a:p>
            <a:r>
              <a:rPr lang="en-US" altLang="ru-RU"/>
              <a:t>Postman </a:t>
            </a:r>
            <a:r>
              <a:rPr lang="en-US" altLang="en-US"/>
              <a:t>коллекция: все эндпоинты с примерами (файл в репозитории).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Сессия 3: Модуль технолога (</a:t>
            </a:r>
            <a:r>
              <a:rPr lang="en-US" altLang="ru-RU"/>
              <a:t>WPF)</a:t>
            </a:r>
            <a:br>
              <a:rPr lang="en-US" altLang="ru-RU"/>
            </a:b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Приложение: </a:t>
            </a:r>
            <a:r>
              <a:rPr lang="en-US" altLang="ru-RU"/>
              <a:t>AgroChem.TechnologistClient</a:t>
            </a:r>
            <a:endParaRPr lang="en-US" altLang="ru-RU"/>
          </a:p>
          <a:p>
            <a:r>
              <a:rPr lang="en-US" altLang="en-US"/>
              <a:t>Функции:</a:t>
            </a:r>
            <a:endParaRPr lang="en-US" altLang="en-US"/>
          </a:p>
          <a:p>
            <a:r>
              <a:rPr lang="en-US" altLang="en-US"/>
              <a:t>Вход с </a:t>
            </a:r>
            <a:r>
              <a:rPr lang="en-US" altLang="ru-RU"/>
              <a:t>CAPTCHA, </a:t>
            </a:r>
            <a:r>
              <a:rPr lang="en-US" altLang="en-US"/>
              <a:t>роль </a:t>
            </a:r>
            <a:r>
              <a:rPr lang="en-US" altLang="ru-RU"/>
              <a:t>technologist</a:t>
            </a:r>
            <a:endParaRPr lang="en-US" altLang="ru-RU"/>
          </a:p>
          <a:p>
            <a:r>
              <a:rPr lang="en-US" altLang="en-US"/>
              <a:t>Управление продукцией (</a:t>
            </a:r>
            <a:r>
              <a:rPr lang="en-US" altLang="ru-RU"/>
              <a:t>CRUD)</a:t>
            </a:r>
            <a:endParaRPr lang="en-US" altLang="ru-RU"/>
          </a:p>
          <a:p>
            <a:r>
              <a:rPr lang="en-US" altLang="en-US"/>
              <a:t>Рецептуры (версии, компоненты, статусы)</a:t>
            </a:r>
            <a:endParaRPr lang="en-US" altLang="en-US"/>
          </a:p>
          <a:p>
            <a:r>
              <a:rPr lang="en-US" altLang="en-US"/>
              <a:t>Технологические карты (шаги с плановыми параметрами и инструкциями)</a:t>
            </a:r>
            <a:endParaRPr lang="en-US" altLang="en-US"/>
          </a:p>
          <a:p>
            <a:r>
              <a:rPr lang="en-US" altLang="en-US"/>
              <a:t>Заказы и партии</a:t>
            </a:r>
            <a:endParaRPr lang="en-US" altLang="en-US"/>
          </a:p>
          <a:p>
            <a:r>
              <a:rPr lang="en-US" altLang="en-US"/>
              <a:t>Мониторинг выполнения</a:t>
            </a:r>
            <a:endParaRPr lang="en-US" altLang="en-US"/>
          </a:p>
          <a:p>
            <a:r>
              <a:rPr lang="en-US" altLang="en-US"/>
              <a:t>Отклонения и отчёты (</a:t>
            </a:r>
            <a:r>
              <a:rPr lang="en-US" altLang="ru-RU"/>
              <a:t>Excel)</a:t>
            </a:r>
            <a:endParaRPr lang="en-US" altLang="ru-RU"/>
          </a:p>
          <a:p>
            <a:r>
              <a:rPr lang="en-US" altLang="en-US"/>
              <a:t>Взаимодействие с </a:t>
            </a:r>
            <a:r>
              <a:rPr lang="en-US" altLang="ru-RU"/>
              <a:t>API: </a:t>
            </a:r>
            <a:r>
              <a:rPr lang="en-US" altLang="en-US"/>
              <a:t>через </a:t>
            </a:r>
            <a:r>
              <a:rPr lang="en-US" altLang="ru-RU"/>
              <a:t>ApiService (HttpClient)</a:t>
            </a:r>
            <a:endParaRPr lang="en-US" altLang="ru-RU"/>
          </a:p>
          <a:p>
            <a:r>
              <a:rPr lang="en-US" altLang="ru-RU"/>
              <a:t>CAPTCHA: </a:t>
            </a:r>
            <a:r>
              <a:rPr lang="en-US" altLang="en-US"/>
              <a:t>графическая (</a:t>
            </a:r>
            <a:r>
              <a:rPr lang="en-US" altLang="ru-RU"/>
              <a:t>System.Drawing), 6 </a:t>
            </a:r>
            <a:r>
              <a:rPr lang="en-US" altLang="en-US"/>
              <a:t>символов с шумом и линиями.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Сессия 4: Модуль лаборатории (</a:t>
            </a:r>
            <a:r>
              <a:rPr lang="en-US" altLang="ru-RU"/>
              <a:t>WPF)</a:t>
            </a:r>
            <a:br>
              <a:rPr lang="en-US" altLang="ru-RU"/>
            </a:b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Приложение: </a:t>
            </a:r>
            <a:r>
              <a:rPr lang="en-US" altLang="ru-RU"/>
              <a:t>AgroChem.Laboratory</a:t>
            </a:r>
            <a:endParaRPr lang="en-US" altLang="ru-RU"/>
          </a:p>
          <a:p>
            <a:r>
              <a:rPr lang="en-US" altLang="en-US"/>
              <a:t>Ключевые функции:</a:t>
            </a:r>
            <a:endParaRPr lang="en-US" altLang="en-US"/>
          </a:p>
          <a:p>
            <a:r>
              <a:rPr lang="en-US" altLang="en-US"/>
              <a:t>Контроль сырья и готовой продукции (список партий)</a:t>
            </a:r>
            <a:endParaRPr lang="en-US" altLang="en-US"/>
          </a:p>
          <a:p>
            <a:r>
              <a:rPr lang="en-US" altLang="en-US"/>
              <a:t>Автоматическая загрузка нормативов (</a:t>
            </a:r>
            <a:r>
              <a:rPr lang="en-US" altLang="ru-RU"/>
              <a:t>standard_params)</a:t>
            </a:r>
            <a:endParaRPr lang="en-US" altLang="ru-RU"/>
          </a:p>
          <a:p>
            <a:r>
              <a:rPr lang="en-US" altLang="en-US"/>
              <a:t>Динамическая форма параметров</a:t>
            </a:r>
            <a:endParaRPr lang="en-US" altLang="en-US"/>
          </a:p>
          <a:p>
            <a:r>
              <a:rPr lang="en-US" altLang="en-US"/>
              <a:t>Автоматическая проверка соответствия (диапазоны, &gt;, &lt;, ≥, ≤)</a:t>
            </a:r>
            <a:endParaRPr lang="en-US" altLang="en-US"/>
          </a:p>
          <a:p>
            <a:r>
              <a:rPr lang="en-US" altLang="en-US"/>
              <a:t>Принятие решения: «Допустить» / «Заблокировать» (обязательная причина при блокировке)</a:t>
            </a:r>
            <a:endParaRPr lang="en-US" altLang="en-US"/>
          </a:p>
          <a:p>
            <a:r>
              <a:rPr lang="en-US" altLang="en-US"/>
              <a:t>Экспорт протокола в </a:t>
            </a:r>
            <a:r>
              <a:rPr lang="en-US" altLang="ru-RU"/>
              <a:t>Excel (ClosedXML)</a:t>
            </a:r>
            <a:endParaRPr lang="en-US" altLang="ru-RU"/>
          </a:p>
          <a:p>
            <a:r>
              <a:rPr lang="en-US" altLang="en-US"/>
              <a:t>История испытаний и редактирование</a:t>
            </a:r>
            <a:endParaRPr lang="en-US" altLang="en-US"/>
          </a:p>
          <a:p>
            <a:r>
              <a:rPr lang="en-US" altLang="en-US"/>
              <a:t>Интерфейс: интуитивный, быстрые переходы (список → карточка → испытание → назад).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Сессия 5: Модуль аппаратчика (</a:t>
            </a:r>
            <a:r>
              <a:rPr lang="en-US" altLang="ru-RU"/>
              <a:t>WPF)</a:t>
            </a:r>
            <a:br>
              <a:rPr lang="en-US" altLang="ru-RU"/>
            </a:b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 altLang="en-US"/>
              <a:t>Приложение: </a:t>
            </a:r>
            <a:r>
              <a:rPr lang="en-US" altLang="ru-RU"/>
              <a:t>AgroChem.OperatorClient</a:t>
            </a:r>
            <a:endParaRPr lang="en-US" altLang="ru-RU"/>
          </a:p>
          <a:p>
            <a:r>
              <a:rPr lang="en-US" altLang="en-US"/>
              <a:t>Процесс работы:</a:t>
            </a:r>
            <a:endParaRPr lang="en-US" altLang="en-US"/>
          </a:p>
          <a:p>
            <a:r>
              <a:rPr lang="en-US" altLang="en-US"/>
              <a:t>Вход (роль </a:t>
            </a:r>
            <a:r>
              <a:rPr lang="en-US" altLang="ru-RU"/>
              <a:t>operator)</a:t>
            </a:r>
            <a:endParaRPr lang="en-US" altLang="ru-RU"/>
          </a:p>
          <a:p>
            <a:r>
              <a:rPr lang="en-US" altLang="en-US"/>
              <a:t>Экран активных партий (</a:t>
            </a:r>
            <a:r>
              <a:rPr lang="en-US" altLang="ru-RU"/>
              <a:t>status = running)</a:t>
            </a:r>
            <a:endParaRPr lang="en-US" altLang="ru-RU"/>
          </a:p>
          <a:p>
            <a:r>
              <a:rPr lang="en-US" altLang="en-US"/>
              <a:t>Выбор партии → открытие программы партии</a:t>
            </a:r>
            <a:endParaRPr lang="en-US" altLang="en-US"/>
          </a:p>
          <a:p>
            <a:r>
              <a:rPr lang="en-US" altLang="en-US"/>
              <a:t>Программа партии:</a:t>
            </a:r>
            <a:endParaRPr lang="en-US" altLang="en-US"/>
          </a:p>
          <a:p>
            <a:r>
              <a:rPr lang="en-US" altLang="en-US"/>
              <a:t>Слева – список шагов с индикацией статуса (</a:t>
            </a:r>
            <a:r>
              <a:rPr lang="en-US" altLang="ru-RU"/>
              <a:t>not_started/in_progress/completed)</a:t>
            </a:r>
            <a:endParaRPr lang="en-US" altLang="ru-RU"/>
          </a:p>
          <a:p>
            <a:r>
              <a:rPr lang="en-US" altLang="en-US"/>
              <a:t>Центр – инструкция, плановые параметры, форма ввода фактических значений, комментарий</a:t>
            </a:r>
            <a:endParaRPr lang="en-US" altLang="en-US"/>
          </a:p>
          <a:p>
            <a:r>
              <a:rPr lang="en-US" altLang="en-US"/>
              <a:t>Справа – телеметрия оборудования (экструдер) с обновлением каждые 3 секунды</a:t>
            </a:r>
            <a:endParaRPr lang="en-US" altLang="en-US"/>
          </a:p>
          <a:p>
            <a:r>
              <a:rPr lang="en-US" altLang="en-US"/>
              <a:t>Действия аппаратчика:</a:t>
            </a:r>
            <a:endParaRPr lang="en-US" altLang="en-US"/>
          </a:p>
          <a:p>
            <a:r>
              <a:rPr lang="en-US" altLang="en-US"/>
              <a:t>Начать шаг (</a:t>
            </a:r>
            <a:r>
              <a:rPr lang="en-US" altLang="ru-RU"/>
              <a:t>actual_start_time)</a:t>
            </a:r>
            <a:endParaRPr lang="en-US" altLang="ru-RU"/>
          </a:p>
          <a:p>
            <a:r>
              <a:rPr lang="en-US" altLang="en-US"/>
              <a:t>Выполнить операцию</a:t>
            </a:r>
            <a:endParaRPr lang="en-US" altLang="en-US"/>
          </a:p>
          <a:p>
            <a:r>
              <a:rPr lang="en-US" altLang="en-US"/>
              <a:t>Ввести фактические параметры</a:t>
            </a:r>
            <a:endParaRPr lang="en-US" altLang="en-US"/>
          </a:p>
          <a:p>
            <a:r>
              <a:rPr lang="en-US" altLang="en-US"/>
              <a:t>Завершить шаг (сохранение, проверка отклонений)</a:t>
            </a:r>
            <a:endParaRPr lang="en-US" altLang="en-US"/>
          </a:p>
          <a:p>
            <a:r>
              <a:rPr lang="en-US" altLang="en-US"/>
              <a:t>Автоматическое завершение партии при выполнении всех шагов.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Сессия 6: Комплексное тестирование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Ручное тестирование (40 тестов):</a:t>
            </a:r>
            <a:endParaRPr lang="en-US" altLang="en-US"/>
          </a:p>
          <a:p>
            <a:r>
              <a:rPr lang="en-US" altLang="en-US"/>
              <a:t>Позитивные и негативные (20% негативных)</a:t>
            </a:r>
            <a:endParaRPr lang="en-US" altLang="en-US"/>
          </a:p>
          <a:p>
            <a:r>
              <a:rPr lang="en-US" altLang="en-US"/>
              <a:t>Охват всех модулей (технолог, лаборатория, аппаратчик)</a:t>
            </a:r>
            <a:endParaRPr lang="en-US" altLang="en-US"/>
          </a:p>
          <a:p>
            <a:r>
              <a:rPr lang="en-US" altLang="en-US"/>
              <a:t>Модульные тесты (30 тестов, </a:t>
            </a:r>
            <a:r>
              <a:rPr lang="en-US" altLang="ru-RU"/>
              <a:t>xUnit):</a:t>
            </a:r>
            <a:endParaRPr lang="en-US" altLang="ru-RU"/>
          </a:p>
          <a:p>
            <a:r>
              <a:rPr lang="en-US" altLang="en-US"/>
              <a:t>Технолог: валидация рецептов, компонентов</a:t>
            </a:r>
            <a:endParaRPr lang="en-US" altLang="en-US"/>
          </a:p>
          <a:p>
            <a:r>
              <a:rPr lang="en-US" altLang="en-US"/>
              <a:t>Лаборатория: парсинг нормативов, вычисление результата</a:t>
            </a:r>
            <a:endParaRPr lang="en-US" altLang="en-US"/>
          </a:p>
          <a:p>
            <a:r>
              <a:rPr lang="en-US" altLang="en-US"/>
              <a:t>Аппаратчик: обнаружение отклонений (температура, давление)</a:t>
            </a:r>
            <a:endParaRPr lang="en-US" altLang="en-US"/>
          </a:p>
          <a:p>
            <a:r>
              <a:rPr lang="en-US" altLang="en-US"/>
              <a:t>Интеграционные тесты </a:t>
            </a:r>
            <a:r>
              <a:rPr lang="en-US" altLang="ru-RU"/>
              <a:t>API (10 </a:t>
            </a:r>
            <a:r>
              <a:rPr lang="en-US" altLang="en-US"/>
              <a:t>тестов):</a:t>
            </a:r>
            <a:endParaRPr lang="en-US" altLang="en-US"/>
          </a:p>
          <a:p>
            <a:r>
              <a:rPr lang="en-US" altLang="en-US"/>
              <a:t>Проверка эндпоинтов: логин, получение данных, сохранение, обновление</a:t>
            </a:r>
            <a:endParaRPr lang="en-US" altLang="en-US"/>
          </a:p>
          <a:p>
            <a:r>
              <a:rPr lang="en-US" altLang="en-US"/>
              <a:t>Негативные сценарии (неверные данные, несуществующие </a:t>
            </a:r>
            <a:r>
              <a:rPr lang="en-US" altLang="ru-RU"/>
              <a:t>ID)</a:t>
            </a:r>
            <a:endParaRPr lang="en-US" altLang="ru-RU"/>
          </a:p>
          <a:p>
            <a:r>
              <a:rPr lang="en-US" altLang="en-US"/>
              <a:t>Результаты: Все тесты успешно пройдены.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Итоги и перспективы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p>
            <a:r>
              <a:rPr lang="en-US" altLang="en-US"/>
              <a:t>Что сделано:</a:t>
            </a:r>
            <a:endParaRPr lang="en-US" altLang="en-US"/>
          </a:p>
          <a:p>
            <a:r>
              <a:rPr lang="en-US" altLang="en-US"/>
              <a:t>Полностью готовая система «АгроКонтроль» (БД + </a:t>
            </a:r>
            <a:r>
              <a:rPr lang="en-US" altLang="ru-RU"/>
              <a:t>API + 3 </a:t>
            </a:r>
            <a:r>
              <a:rPr lang="en-US" altLang="en-US"/>
              <a:t>десктоп-приложения)</a:t>
            </a:r>
            <a:endParaRPr lang="en-US" altLang="en-US"/>
          </a:p>
          <a:p>
            <a:r>
              <a:rPr lang="en-US" altLang="en-US"/>
              <a:t>Реализованы все бизнес-функции по ТЗ</a:t>
            </a:r>
            <a:endParaRPr lang="en-US" altLang="en-US"/>
          </a:p>
          <a:p>
            <a:r>
              <a:rPr lang="en-US" altLang="en-US"/>
              <a:t>Проведено комплексное тестирование</a:t>
            </a:r>
            <a:endParaRPr lang="en-US" altLang="en-US"/>
          </a:p>
          <a:p>
            <a:r>
              <a:rPr lang="en-US" altLang="en-US"/>
              <a:t>Оформлена документация и </a:t>
            </a:r>
            <a:r>
              <a:rPr lang="en-US" altLang="ru-RU"/>
              <a:t>Git-</a:t>
            </a:r>
            <a:r>
              <a:rPr lang="en-US" altLang="en-US"/>
              <a:t>репозиторий</a:t>
            </a:r>
            <a:endParaRPr lang="en-US" altLang="en-US"/>
          </a:p>
          <a:p>
            <a:r>
              <a:rPr lang="en-US" altLang="en-US"/>
              <a:t>Технологический стек:</a:t>
            </a:r>
            <a:endParaRPr lang="en-US" altLang="en-US"/>
          </a:p>
          <a:p>
            <a:r>
              <a:rPr lang="en-US" altLang="ru-RU"/>
              <a:t>.NET Framework 4.8, WPF, ASP.NET Web API 2</a:t>
            </a:r>
            <a:endParaRPr lang="en-US" altLang="ru-RU"/>
          </a:p>
          <a:p>
            <a:r>
              <a:rPr lang="en-US" altLang="ru-RU"/>
              <a:t>MS SQL Server</a:t>
            </a:r>
            <a:endParaRPr lang="en-US" altLang="ru-RU"/>
          </a:p>
          <a:p>
            <a:r>
              <a:rPr lang="en-US" altLang="ru-RU"/>
              <a:t>xUnit, Moq, ClosedXML, Newtonsoft.Json</a:t>
            </a:r>
            <a:endParaRPr lang="en-US" altLang="ru-RU"/>
          </a:p>
          <a:p>
            <a:r>
              <a:rPr lang="en-US" altLang="en-US"/>
              <a:t>Перспективы развития:</a:t>
            </a:r>
            <a:endParaRPr lang="en-US" altLang="en-US"/>
          </a:p>
          <a:p>
            <a:r>
              <a:rPr lang="en-US" altLang="en-US"/>
              <a:t>Добавление модуля аналитики (</a:t>
            </a:r>
            <a:r>
              <a:rPr lang="en-US" altLang="ru-RU"/>
              <a:t>Power BI)</a:t>
            </a:r>
            <a:endParaRPr lang="en-US" altLang="ru-RU"/>
          </a:p>
          <a:p>
            <a:r>
              <a:rPr lang="en-US" altLang="en-US"/>
              <a:t>Интеграция с </a:t>
            </a:r>
            <a:r>
              <a:rPr lang="en-US" altLang="ru-RU"/>
              <a:t>ERP-</a:t>
            </a:r>
            <a:r>
              <a:rPr lang="en-US" altLang="en-US"/>
              <a:t>системой предприятия</a:t>
            </a:r>
            <a:endParaRPr lang="en-US" altLang="en-US"/>
          </a:p>
          <a:p>
            <a:r>
              <a:rPr lang="en-US" altLang="en-US"/>
              <a:t>Веб-версия для удалённого доступа</a:t>
            </a:r>
            <a:endParaRPr lang="en-US" altLang="en-US"/>
          </a:p>
          <a:p>
            <a:r>
              <a:rPr lang="en-US" altLang="en-US"/>
              <a:t>Мобильное приложение для операторов</a:t>
            </a:r>
            <a:endParaRPr lang="en-US" altLang="en-US"/>
          </a:p>
          <a:p>
            <a:r>
              <a:rPr lang="en-US" altLang="en-US"/>
              <a:t>Система готова к промышленной эксплуатации.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4709</Words>
  <Application>WPS Presentation</Application>
  <PresentationFormat>宽屏</PresentationFormat>
  <Paragraphs>130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Times New Roman</vt:lpstr>
      <vt:lpstr>Wingdings 3</vt:lpstr>
      <vt:lpstr>Symbol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Виктор Мищенко</cp:lastModifiedBy>
  <cp:revision>4</cp:revision>
  <dcterms:created xsi:type="dcterms:W3CDTF">2025-07-23T00:59:00Z</dcterms:created>
  <dcterms:modified xsi:type="dcterms:W3CDTF">2026-05-19T12:16:01Z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89B11141355F47A0BD3E7F5399F6D26C_13</vt:lpwstr>
  </property>
</Properties>
</file>